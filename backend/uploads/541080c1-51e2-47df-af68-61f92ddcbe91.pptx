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1D227D51-204B-ED48-AF9A-0BE9633FE04A}"/>
              </a:ext>
            </a:extLst>
          </p:cNvPr>
          <p:cNvSpPr/>
          <p:nvPr/>
        </p:nvSpPr>
        <p:spPr>
          <a:xfrm>
            <a:off x="5224243" y="1096772"/>
            <a:ext cx="6503180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57A23F45-CDAE-8A40-8DE7-92A0BBC119B7}"/>
              </a:ext>
            </a:extLst>
          </p:cNvPr>
          <p:cNvSpPr/>
          <p:nvPr/>
        </p:nvSpPr>
        <p:spPr>
          <a:xfrm>
            <a:off x="501681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546383-CCC4-544B-B0D8-DE78DE39BB78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5D1728-714F-2942-A0D1-82FF9419B4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106" y="1625608"/>
            <a:ext cx="8035342" cy="2722164"/>
          </a:xfrm>
        </p:spPr>
        <p:txBody>
          <a:bodyPr anchor="b"/>
          <a:lstStyle>
            <a:lvl1pPr algn="l">
              <a:defRPr sz="8000" spc="-1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072D4-1496-3347-BBF8-5879DF263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106" y="4466845"/>
            <a:ext cx="8035342" cy="88290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C724-B499-364B-AEB5-B6517F6AD5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7105" y="5708747"/>
            <a:ext cx="3882843" cy="365125"/>
          </a:xfrm>
        </p:spPr>
        <p:txBody>
          <a:bodyPr/>
          <a:lstStyle>
            <a:lvl1pPr>
              <a:defRPr sz="1400"/>
            </a:lvl1pPr>
          </a:lstStyle>
          <a:p>
            <a:fld id="{73C3BD54-29B9-3D42-B178-776ED395AA85}" type="datetimeFigureOut">
              <a:rPr lang="en-US" smtClean="0"/>
              <a:pPr/>
              <a:t>2/26/2026</a:t>
            </a:fld>
            <a:endParaRPr lang="en-US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3889C-A4E9-B24E-818F-46A1124C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0F50F-250E-6D45-AEBC-2573FED0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789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9F291BE0-7A7E-D04F-974F-9F4577FB2F46}"/>
              </a:ext>
            </a:extLst>
          </p:cNvPr>
          <p:cNvSpPr/>
          <p:nvPr/>
        </p:nvSpPr>
        <p:spPr>
          <a:xfrm>
            <a:off x="6163735" y="1096772"/>
            <a:ext cx="557106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BD33FF1F-6094-0B4A-A3E4-6B0D9283DB44}"/>
              </a:ext>
            </a:extLst>
          </p:cNvPr>
          <p:cNvSpPr/>
          <p:nvPr/>
        </p:nvSpPr>
        <p:spPr>
          <a:xfrm>
            <a:off x="11529484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8A6D9C-C7A5-414B-8CB7-E31470D7D28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D850E-6310-C04D-8CAC-B7FA9F33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7FB3-5DFC-6547-9567-C0ABE874C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D2DB-A7B1-204E-8416-E938952BC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24BA1-E2D0-1E4B-9DB3-664FE273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E64B2-36E4-5A4E-A78A-A629829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52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97F6C6D-13AE-FD40-841C-4AB96460C390}"/>
              </a:ext>
            </a:extLst>
          </p:cNvPr>
          <p:cNvSpPr/>
          <p:nvPr/>
        </p:nvSpPr>
        <p:spPr>
          <a:xfrm>
            <a:off x="4291015" y="1096772"/>
            <a:ext cx="7436404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>
            <a:extLst>
              <a:ext uri="{FF2B5EF4-FFF2-40B4-BE49-F238E27FC236}">
                <a16:creationId xmlns:a16="http://schemas.microsoft.com/office/drawing/2014/main" id="{24E27617-2112-2342-9FF1-39F2A241CCCC}"/>
              </a:ext>
            </a:extLst>
          </p:cNvPr>
          <p:cNvSpPr/>
          <p:nvPr/>
        </p:nvSpPr>
        <p:spPr>
          <a:xfrm>
            <a:off x="4086371" y="562445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33CE582-7AFE-D048-B5BC-212A12A28F25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EAEF4-E84F-CF40-B27B-01E1D2AFC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1881951"/>
            <a:ext cx="7335836" cy="1987707"/>
          </a:xfrm>
        </p:spPr>
        <p:txBody>
          <a:bodyPr anchor="b"/>
          <a:lstStyle>
            <a:lvl1pPr>
              <a:defRPr sz="6000" spc="-15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B7E1-CC48-2441-975D-F1A5412B8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49" y="3869661"/>
            <a:ext cx="7335836" cy="94846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26218-1FCF-7A4D-B138-D1B1DE91A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84204-038C-FD4B-8E1C-0A9967BF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59AB9-E1C6-C841-B423-FD2BB13C3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17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B057A-C120-5E4E-BB74-223EB6D0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EB7BE-6258-C84C-8242-9865D136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111" y="2691637"/>
            <a:ext cx="4946643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D23CD-80DB-5740-AE68-76414CA31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76903" y="2691637"/>
            <a:ext cx="4946639" cy="3189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E0921-9102-1440-B315-778888723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7802F-1937-2F43-8FF4-846135D6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9C72-E794-4F4F-8E09-D4883EED7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FEFA3E2-0F30-664C-AAE4-DE6526B5C71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C3D7AFF-BC7E-BA41-9C64-B5F9619C0EA1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671D2311-E9B8-F041-A7B8-D5696903F22A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157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CA91-F119-0244-888A-95539A84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10" y="1204721"/>
            <a:ext cx="8266175" cy="14447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A3EAC-4422-D548-8D7F-E9944566F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11" y="2691638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40CA2-88A9-CC42-A375-8B87E47C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111" y="3515550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5F960C-714E-2E4A-8141-A88F38274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76866" y="2691162"/>
            <a:ext cx="4946644" cy="823912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7BC24-C907-EC4B-872D-17429A657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76866" y="3515074"/>
            <a:ext cx="4946644" cy="23662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E2A045-4283-3C47-B125-68CF3B19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BC25BC-2C98-574D-BCCD-E36CAB07F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C95A-7789-E042-8471-D442D9BB5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F1BA5B-EDD8-B648-8A3E-E2B3570B1EA0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7476360-629C-DE48-85B7-F4BE6CC457D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C5F6C588-FC1B-3147-AFA1-CD7D76C5AEAC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65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401-5318-7045-8AE3-B1A99F2D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2F55F-EB76-AE49-B554-12B65B63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CB6E6E-D81E-C44A-AC54-CBE0134C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025B9-9F46-3049-9977-0119B96D3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760068-EADA-2B4B-9819-CF981184FAEB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1DA7622-137E-184A-A93C-8DBB10318AE6}"/>
              </a:ext>
            </a:extLst>
          </p:cNvPr>
          <p:cNvSpPr/>
          <p:nvPr/>
        </p:nvSpPr>
        <p:spPr>
          <a:xfrm>
            <a:off x="11738231" y="1096772"/>
            <a:ext cx="453769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54FB0990-6F8D-B048-8309-19B0D1A41033}"/>
              </a:ext>
            </a:extLst>
          </p:cNvPr>
          <p:cNvSpPr/>
          <p:nvPr/>
        </p:nvSpPr>
        <p:spPr>
          <a:xfrm>
            <a:off x="11531286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508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AF81DD-2B1F-3444-8023-DD52318FE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927EE3-DAA3-D948-B8FD-4841754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4532D4-FFBF-6C47-A6C9-D55196D9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D5541-7726-BA46-8BFA-BF6AA8D42BD7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>
            <a:extLst>
              <a:ext uri="{FF2B5EF4-FFF2-40B4-BE49-F238E27FC236}">
                <a16:creationId xmlns:a16="http://schemas.microsoft.com/office/drawing/2014/main" id="{97F434CF-7503-CE4F-8426-C312C6315AD0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EDBFB2F-FE34-E349-9484-C275FBE3161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960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2DCFD-BEE6-AC49-BABD-D8B89C3B6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E035-8260-4443-B1D9-A9C8D5840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1813" y="1508252"/>
            <a:ext cx="5606518" cy="40458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C1AA53-7507-D04B-9B8E-6A4F7122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68295"/>
            <a:ext cx="4114800" cy="31858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E11F-3003-0745-ACAB-FAA4E676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C11A6-59AC-FE45-8A1C-9DDC0058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D6F51E-1A94-034C-BBEE-C26A3AF0E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0B7D330-76C0-224C-9C3C-27C4D2B0DDB4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464D55-5C51-844B-A38A-8143590FB934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FD988250-C554-DE44-B887-57D0B2AA8E37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143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86C7C-36AD-9A4E-8524-8F44E8839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3800"/>
            <a:ext cx="4114800" cy="107721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015248-4C80-3348-A8A9-6C9F5D32F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31151" y="1096772"/>
            <a:ext cx="6096270" cy="576122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B3083-CA16-C54A-B130-7BEE6DF9D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49" y="2370666"/>
            <a:ext cx="4114800" cy="318346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C6EB5-D7D1-E247-B9D7-D319E5AAB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F6CC-F5C4-9847-BADB-8B7441C8F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63FE4-B2F5-7741-B517-533F1C98C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B80A771-7D8E-0F4A-93A3-B977667D338E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9320FA-0E3A-2749-9085-DF30FA26F4BD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5A3DF5D0-8A2C-A049-9132-EE1EF7D014D4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4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9F6C0E12-251D-EA44-BF81-4ABDFBB94321}"/>
              </a:ext>
            </a:extLst>
          </p:cNvPr>
          <p:cNvSpPr/>
          <p:nvPr/>
        </p:nvSpPr>
        <p:spPr>
          <a:xfrm>
            <a:off x="7087169" y="1096772"/>
            <a:ext cx="4652226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C5FF4-095A-114E-87B6-73C7ADFF9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E6EC9-9650-2042-8581-5B4082F941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A0800-B373-3B40-B187-30AFE44CD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A4C1C-C790-B449-8C06-78E8303F9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E620-F86B-F447-AB06-DDAB3919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0487CB5-43E0-974C-9DDC-252A8A37107F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E9CB83EF-4143-5A45-9B3A-9E70DD50253B}"/>
              </a:ext>
            </a:extLst>
          </p:cNvPr>
          <p:cNvSpPr/>
          <p:nvPr/>
        </p:nvSpPr>
        <p:spPr>
          <a:xfrm>
            <a:off x="11415183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2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9DF801-FF8E-6247-9065-D9304CD60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5667" y="1204722"/>
            <a:ext cx="1853360" cy="467664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E2615-7E4D-AB47-ACE6-236D716D7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73667" y="1204722"/>
            <a:ext cx="8274047" cy="46969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F0223-5AC9-374E-BD0C-344F67E2A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3BD54-29B9-3D42-B178-776ED395AA8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EDD42-54A1-E648-8829-140EC4C5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DF8F-8DBC-8A47-8000-5BA35DF9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3423-611C-6944-BA94-F2572F362413}" type="slidenum">
              <a:rPr lang="en-US" smtClean="0"/>
              <a:t>‹#›</a:t>
            </a:fld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CE2A98-5154-A544-BE2A-FDC0811C19A0}"/>
              </a:ext>
            </a:extLst>
          </p:cNvPr>
          <p:cNvSpPr/>
          <p:nvPr/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C4EC832-8181-5643-8A62-117E43F0E498}"/>
              </a:ext>
            </a:extLst>
          </p:cNvPr>
          <p:cNvSpPr/>
          <p:nvPr/>
        </p:nvSpPr>
        <p:spPr>
          <a:xfrm>
            <a:off x="-1" y="1096772"/>
            <a:ext cx="263565" cy="57612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ross 9">
            <a:extLst>
              <a:ext uri="{FF2B5EF4-FFF2-40B4-BE49-F238E27FC236}">
                <a16:creationId xmlns:a16="http://schemas.microsoft.com/office/drawing/2014/main" id="{24AF3281-BC22-374D-A461-8B3181F600AA}"/>
              </a:ext>
            </a:extLst>
          </p:cNvPr>
          <p:cNvSpPr/>
          <p:nvPr/>
        </p:nvSpPr>
        <p:spPr>
          <a:xfrm>
            <a:off x="58248" y="5618903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39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952BFD-D607-6845-9C7B-1C8D3B4EE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49" y="1204721"/>
            <a:ext cx="8267296" cy="14465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B52FF-3B04-8245-BF0B-89C9E2933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691638"/>
            <a:ext cx="8267296" cy="3188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9BFE-CBDD-C344-A21E-44A52F11B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5149" y="594969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 smtClean="0">
                <a:latin typeface="+mn-lt"/>
              </a:defRPr>
            </a:lvl1pPr>
          </a:lstStyle>
          <a:p>
            <a:fld id="{73C3BD54-29B9-3D42-B178-776ED395AA85}" type="datetimeFigureOut">
              <a:rPr lang="en-US" smtClean="0"/>
              <a:pPr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371C0-3DCE-0743-946F-C7540DD78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543179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lang="en-US" sz="1050"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32ADB-4517-194F-8B4B-A9D26B3C0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3024" y="511175"/>
            <a:ext cx="914400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86BB3423-611C-6944-BA94-F2572F3624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1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System Font Regular"/>
        <a:buChar char="–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System Font Regular"/>
        <a:buChar char="–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A2C65D-0168-1245-86C8-62A8A6F7B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2DFD35-A77B-46D2-8CEA-9A6E8EF908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2614" y="1625608"/>
            <a:ext cx="4655719" cy="2722164"/>
          </a:xfrm>
        </p:spPr>
        <p:txBody>
          <a:bodyPr>
            <a:normAutofit/>
          </a:bodyPr>
          <a:lstStyle/>
          <a:p>
            <a:pPr algn="r"/>
            <a:r>
              <a:rPr lang="fa-IR" dirty="0"/>
              <a:t>دستگاه اتومات تمیزکن پنل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B5A810-16EC-A6FA-142A-F55C5BEB7E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99" r="10110" b="-1"/>
          <a:stretch>
            <a:fillRect/>
          </a:stretch>
        </p:blipFill>
        <p:spPr>
          <a:xfrm>
            <a:off x="20" y="10"/>
            <a:ext cx="6038037" cy="6857990"/>
          </a:xfrm>
          <a:prstGeom prst="rect">
            <a:avLst/>
          </a:prstGeom>
        </p:spPr>
      </p:pic>
      <p:sp>
        <p:nvSpPr>
          <p:cNvPr id="11" name="Cross 10">
            <a:extLst>
              <a:ext uri="{FF2B5EF4-FFF2-40B4-BE49-F238E27FC236}">
                <a16:creationId xmlns:a16="http://schemas.microsoft.com/office/drawing/2014/main" id="{12E8ED90-6D42-AE40-963A-3924EE207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0625" y="5623560"/>
            <a:ext cx="524933" cy="524933"/>
          </a:xfrm>
          <a:prstGeom prst="plus">
            <a:avLst>
              <a:gd name="adj" fmla="val 395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5E9273-3717-C94C-9BFF-75E87E47C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81559" y="976630"/>
            <a:ext cx="1336774" cy="1201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2546C2-F9CB-42EB-A589-98DC8FD2F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026" y="4347772"/>
            <a:ext cx="4532307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47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2AD9D-559E-4655-A7D9-BA24CAB18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4297" y="1120831"/>
            <a:ext cx="5552350" cy="1446550"/>
          </a:xfrm>
        </p:spPr>
        <p:txBody>
          <a:bodyPr/>
          <a:lstStyle/>
          <a:p>
            <a:pPr algn="ctr"/>
            <a:r>
              <a:rPr lang="fa-IR" dirty="0"/>
              <a:t>برآورد هزینه قطعات اصلی</a:t>
            </a: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77E0923-CD1C-4133-ADCC-D8D905A883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306298"/>
              </p:ext>
            </p:extLst>
          </p:nvPr>
        </p:nvGraphicFramePr>
        <p:xfrm>
          <a:off x="6174295" y="2063226"/>
          <a:ext cx="5552352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6176">
                  <a:extLst>
                    <a:ext uri="{9D8B030D-6E8A-4147-A177-3AD203B41FA5}">
                      <a16:colId xmlns:a16="http://schemas.microsoft.com/office/drawing/2014/main" val="2386721647"/>
                    </a:ext>
                  </a:extLst>
                </a:gridCol>
                <a:gridCol w="2776176">
                  <a:extLst>
                    <a:ext uri="{9D8B030D-6E8A-4147-A177-3AD203B41FA5}">
                      <a16:colId xmlns:a16="http://schemas.microsoft.com/office/drawing/2014/main" val="2592067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dirty="0"/>
                        <a:t>قیمت تقریبی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/>
                        <a:t>قطعه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248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/>
                        <a:t>حدود ۱۵۰٬۰۰۰ تا ۲۵۰٬۰۰۰ تومان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600" dirty="0">
                          <a:cs typeface="B Compset" panose="00000400000000000000" pitchFamily="2" charset="-78"/>
                        </a:rPr>
                        <a:t>Arduino UNO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049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/>
                        <a:t>حدود </a:t>
                      </a:r>
                      <a:r>
                        <a:rPr lang="fa-IR" sz="1600" b="1" dirty="0"/>
                        <a:t>۷۰۰٬۰۰۰ تا ۸۰۰٬۰۰۰ تومان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cs typeface="B Compset" panose="00000400000000000000" pitchFamily="2" charset="-78"/>
                        </a:rPr>
                        <a:t>درایور موتور </a:t>
                      </a:r>
                      <a:r>
                        <a:rPr lang="en-US" dirty="0">
                          <a:cs typeface="B Compset" panose="00000400000000000000" pitchFamily="2" charset="-78"/>
                        </a:rPr>
                        <a:t>BTS7960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08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dirty="0"/>
                        <a:t>حدود ۴۰٬۰۰۰ تا ۸۰٬۰۰۰ تومان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cs typeface="B Compset" panose="00000400000000000000" pitchFamily="2" charset="-78"/>
                        </a:rPr>
                        <a:t>ماژول رله 1 کانال 5</a:t>
                      </a:r>
                      <a:r>
                        <a:rPr lang="en-US" dirty="0">
                          <a:cs typeface="B Compset" panose="00000400000000000000" pitchFamily="2" charset="-78"/>
                        </a:rPr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108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dirty="0"/>
                        <a:t>حدود ۳۰٬۰۰۰ تا ۶۰٬۰۰۰ تومان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cs typeface="B Compset" panose="00000400000000000000" pitchFamily="2" charset="-78"/>
                        </a:rPr>
                        <a:t>لیمت سوئیچ (2 عدد)</a:t>
                      </a:r>
                      <a:endParaRPr lang="en-US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045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fa-IR" dirty="0"/>
                        <a:t>حدود ۴۰٬۰۰۰ تا ۸۰٬۰۰۰ تومان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cs typeface="B Compset" panose="00000400000000000000" pitchFamily="2" charset="-78"/>
                        </a:rPr>
                        <a:t>ماژول کاهنده ولتاژ</a:t>
                      </a:r>
                      <a:r>
                        <a:rPr lang="en-US" dirty="0">
                          <a:cs typeface="B Compset" panose="00000400000000000000" pitchFamily="2" charset="-78"/>
                        </a:rPr>
                        <a:t>Buck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2035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fa-I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حدود ۵۰۰٬۰۰۰ تا ۹۰۰٬۰۰۰ تومان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>
                          <a:cs typeface="B Compset" panose="00000400000000000000" pitchFamily="2" charset="-78"/>
                        </a:rPr>
                        <a:t>“7A”</a:t>
                      </a:r>
                      <a:r>
                        <a:rPr lang="fa-IR" dirty="0">
                          <a:cs typeface="B Compset" panose="00000400000000000000" pitchFamily="2" charset="-78"/>
                        </a:rPr>
                        <a:t>باتری 12</a:t>
                      </a:r>
                      <a:r>
                        <a:rPr lang="en-US" dirty="0">
                          <a:cs typeface="B Compset" panose="00000400000000000000" pitchFamily="2" charset="-78"/>
                        </a:rPr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12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fa-IR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حدود ۵۰٬۰۰۰ تا ۱۵۰٬۰۰۰ تومان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dirty="0">
                          <a:cs typeface="B Compset" panose="00000400000000000000" pitchFamily="2" charset="-78"/>
                        </a:rPr>
                        <a:t>سیم، بست‌ها، کانکتورها</a:t>
                      </a:r>
                      <a:endParaRPr lang="en-US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7861906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EDD8E987-FD49-420C-84F9-DCFA6D2EA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23" y="142743"/>
            <a:ext cx="2143125" cy="21431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3F0E4F-8C6B-4AA8-AA82-71238EE3B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36" y="2139193"/>
            <a:ext cx="4262100" cy="19096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85B951-A351-4D11-B1DF-43554C4728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37" y="4299096"/>
            <a:ext cx="2252575" cy="227216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21C97A-24B4-45B0-ACDC-29BE77F1C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7014" y="142743"/>
            <a:ext cx="2436843" cy="203218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6B051A-CFE6-46F1-9C99-14DEA5FB5C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0598" y="4059676"/>
            <a:ext cx="3248478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68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B495-4A33-4A90-96C4-F76CE03BA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631" y="1204721"/>
            <a:ext cx="5511566" cy="1446550"/>
          </a:xfrm>
        </p:spPr>
        <p:txBody>
          <a:bodyPr/>
          <a:lstStyle/>
          <a:p>
            <a:pPr algn="r"/>
            <a:r>
              <a:rPr lang="fa-IR" dirty="0"/>
              <a:t>بخش مکانیکی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428F994-A005-4E8A-86C9-AA3E60913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5825509"/>
              </p:ext>
            </p:extLst>
          </p:nvPr>
        </p:nvGraphicFramePr>
        <p:xfrm>
          <a:off x="6224631" y="2331719"/>
          <a:ext cx="5511566" cy="35825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5783">
                  <a:extLst>
                    <a:ext uri="{9D8B030D-6E8A-4147-A177-3AD203B41FA5}">
                      <a16:colId xmlns:a16="http://schemas.microsoft.com/office/drawing/2014/main" val="3604695178"/>
                    </a:ext>
                  </a:extLst>
                </a:gridCol>
                <a:gridCol w="2755783">
                  <a:extLst>
                    <a:ext uri="{9D8B030D-6E8A-4147-A177-3AD203B41FA5}">
                      <a16:colId xmlns:a16="http://schemas.microsoft.com/office/drawing/2014/main" val="1988873845"/>
                    </a:ext>
                  </a:extLst>
                </a:gridCol>
              </a:tblGrid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cs typeface="B Compset" panose="00000400000000000000" pitchFamily="2" charset="-78"/>
                        </a:rPr>
                        <a:t>حدود ۲۰۰٬۰۰۰ تا ۳۰۰٬۰۰۰ تومان</a:t>
                      </a:r>
                      <a:endParaRPr lang="en-US" sz="16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cs typeface="B Compset" panose="00000400000000000000" pitchFamily="2" charset="-78"/>
                        </a:rPr>
                        <a:t>ریل آلومینیومی 1.6 متر × 2 عدد</a:t>
                      </a:r>
                      <a:endParaRPr lang="en-US" sz="16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628510"/>
                  </a:ext>
                </a:extLst>
              </a:tr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cs typeface="B Compset" panose="00000400000000000000" pitchFamily="2" charset="-78"/>
                        </a:rPr>
                        <a:t>حدود ۱۵۰٬۰۰۰ تا ۲۵۰٬۰۰۰ تومان</a:t>
                      </a:r>
                      <a:endParaRPr lang="en-US" sz="16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cs typeface="B Compset" panose="00000400000000000000" pitchFamily="2" charset="-78"/>
                        </a:rPr>
                        <a:t>واگن + چرخ بلبرینگی 4 عدد</a:t>
                      </a:r>
                      <a:endParaRPr lang="en-US" sz="16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441207"/>
                  </a:ext>
                </a:extLst>
              </a:tr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cs typeface="B Compset" panose="00000400000000000000" pitchFamily="2" charset="-78"/>
                        </a:rPr>
                        <a:t>حدود ۱۰۰٬۰۰۰ تا ۲۰۰٬۰۰۰ تومان</a:t>
                      </a:r>
                      <a:endParaRPr lang="en-US" sz="16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cs typeface="B Compset" panose="00000400000000000000" pitchFamily="2" charset="-78"/>
                        </a:rPr>
                        <a:t>برس رولری نرم</a:t>
                      </a:r>
                      <a:endParaRPr lang="en-US" sz="16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635865"/>
                  </a:ext>
                </a:extLst>
              </a:tr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cs typeface="B Compset" panose="00000400000000000000" pitchFamily="2" charset="-78"/>
                        </a:rPr>
                        <a:t>حدود ۳۰٬۰۰۰ تا ۷۰٬۰۰۰ تومان</a:t>
                      </a:r>
                      <a:endParaRPr lang="en-US" sz="16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cs typeface="B Compset" panose="00000400000000000000" pitchFamily="2" charset="-78"/>
                        </a:rPr>
                        <a:t>پولی (قرقره) ×2</a:t>
                      </a:r>
                      <a:endParaRPr lang="en-US" sz="16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363767"/>
                  </a:ext>
                </a:extLst>
              </a:tr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cs typeface="B Compset" panose="00000400000000000000" pitchFamily="2" charset="-78"/>
                        </a:rPr>
                        <a:t>حدود ۵۰٬۰۰۰ تا ۱۰۰٬۰۰۰ تومان</a:t>
                      </a:r>
                      <a:endParaRPr lang="en-US" sz="16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cs typeface="B Compset" panose="00000400000000000000" pitchFamily="2" charset="-78"/>
                        </a:rPr>
                        <a:t>تسمه تایم یا کابل مقاوم</a:t>
                      </a:r>
                      <a:endParaRPr lang="en-US" sz="16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233066"/>
                  </a:ext>
                </a:extLst>
              </a:tr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cs typeface="B Compset" panose="00000400000000000000" pitchFamily="2" charset="-78"/>
                        </a:rPr>
                        <a:t>حدود ۳۰٬۰۰۰ تا ۸۰٬۰۰۰ تومان</a:t>
                      </a:r>
                      <a:endParaRPr lang="en-US" sz="16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600" dirty="0">
                          <a:cs typeface="B Compset" panose="00000400000000000000" pitchFamily="2" charset="-78"/>
                        </a:rPr>
                        <a:t>پیچ و مهره / بست</a:t>
                      </a:r>
                      <a:endParaRPr lang="en-US" sz="16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247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1CA1EE2-A67A-4CB8-9948-44EEA9069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52" y="284301"/>
            <a:ext cx="5615618" cy="657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98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B495-4A33-4A90-96C4-F76CE03BA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4631" y="1204721"/>
            <a:ext cx="5511566" cy="1446550"/>
          </a:xfrm>
        </p:spPr>
        <p:txBody>
          <a:bodyPr/>
          <a:lstStyle/>
          <a:p>
            <a:pPr algn="r"/>
            <a:r>
              <a:rPr lang="fa-IR" dirty="0"/>
              <a:t>سیستم آب‌پاش (برای ۱ پنل)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428F994-A005-4E8A-86C9-AA3E60913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318104"/>
              </p:ext>
            </p:extLst>
          </p:nvPr>
        </p:nvGraphicFramePr>
        <p:xfrm>
          <a:off x="6224631" y="2331719"/>
          <a:ext cx="5511566" cy="4179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5783">
                  <a:extLst>
                    <a:ext uri="{9D8B030D-6E8A-4147-A177-3AD203B41FA5}">
                      <a16:colId xmlns:a16="http://schemas.microsoft.com/office/drawing/2014/main" val="3604695178"/>
                    </a:ext>
                  </a:extLst>
                </a:gridCol>
                <a:gridCol w="2755783">
                  <a:extLst>
                    <a:ext uri="{9D8B030D-6E8A-4147-A177-3AD203B41FA5}">
                      <a16:colId xmlns:a16="http://schemas.microsoft.com/office/drawing/2014/main" val="1988873845"/>
                    </a:ext>
                  </a:extLst>
                </a:gridCol>
              </a:tblGrid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حدود </a:t>
                      </a:r>
                      <a:r>
                        <a:rPr lang="fa-IR" sz="1400" b="1" dirty="0">
                          <a:cs typeface="B Compset" panose="00000400000000000000" pitchFamily="2" charset="-78"/>
                        </a:rPr>
                        <a:t>۴۸۵هزار تا ۱.۸میلیون</a:t>
                      </a:r>
                      <a:r>
                        <a:rPr lang="fa-IR" sz="1400" dirty="0">
                          <a:cs typeface="B Compset" panose="00000400000000000000" pitchFamily="2" charset="-78"/>
                        </a:rPr>
                        <a:t> تومان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پمپ دیافراگمی 12</a:t>
                      </a:r>
                      <a:r>
                        <a:rPr lang="en-US" sz="1400" dirty="0">
                          <a:cs typeface="B Compset" panose="00000400000000000000" pitchFamily="2" charset="-78"/>
                        </a:rPr>
                        <a:t>V (</a:t>
                      </a:r>
                      <a:r>
                        <a:rPr lang="fa-IR" sz="1400" dirty="0">
                          <a:cs typeface="B Compset" panose="00000400000000000000" pitchFamily="2" charset="-78"/>
                        </a:rPr>
                        <a:t>برای مه‌پاش/کارواش کوچک)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9628510"/>
                  </a:ext>
                </a:extLst>
              </a:tr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حدود </a:t>
                      </a:r>
                      <a:r>
                        <a:rPr lang="fa-IR" sz="1400" b="1" dirty="0">
                          <a:cs typeface="B Compset" panose="00000400000000000000" pitchFamily="2" charset="-78"/>
                        </a:rPr>
                        <a:t>۶۵هزار</a:t>
                      </a:r>
                      <a:r>
                        <a:rPr lang="fa-IR" sz="1400" dirty="0">
                          <a:cs typeface="B Compset" panose="00000400000000000000" pitchFamily="2" charset="-78"/>
                        </a:rPr>
                        <a:t> تومان (هر عدد، بسته به مدل) 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نازل مه‌پاش (۰.۲ تا ۰.۳ میلی‌متر)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441207"/>
                  </a:ext>
                </a:extLst>
              </a:tr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قیمت‌ها متغیرن؛ برای متراژ کم معمولاً </a:t>
                      </a:r>
                      <a:r>
                        <a:rPr lang="fa-IR" sz="1400" b="1" dirty="0">
                          <a:cs typeface="B Compset" panose="00000400000000000000" pitchFamily="2" charset="-78"/>
                        </a:rPr>
                        <a:t>ده‌ها هزار تومان</a:t>
                      </a:r>
                      <a:r>
                        <a:rPr lang="fa-IR" sz="1400" dirty="0">
                          <a:cs typeface="B Compset" panose="00000400000000000000" pitchFamily="2" charset="-78"/>
                        </a:rPr>
                        <a:t> در میاد 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شیلنگ (</a:t>
                      </a:r>
                      <a:r>
                        <a:rPr lang="en-US" sz="1400" dirty="0">
                          <a:cs typeface="B Compset" panose="00000400000000000000" pitchFamily="2" charset="-78"/>
                        </a:rPr>
                        <a:t>PU/</a:t>
                      </a:r>
                      <a:r>
                        <a:rPr lang="fa-IR" sz="1400" dirty="0">
                          <a:cs typeface="B Compset" panose="00000400000000000000" pitchFamily="2" charset="-78"/>
                        </a:rPr>
                        <a:t>پنوماتیک یا شیلنگ نازک آب)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635865"/>
                  </a:ext>
                </a:extLst>
              </a:tr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قیمتش بسته به فروشنده متغیره (بعضی جاها موجود/ناموجود میشه) 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مخزن آب (گالن ۵ لیتری)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8363767"/>
                  </a:ext>
                </a:extLst>
              </a:tr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حدود </a:t>
                      </a:r>
                      <a:r>
                        <a:rPr lang="fa-IR" sz="1400" b="1" dirty="0">
                          <a:cs typeface="B Compset" panose="00000400000000000000" pitchFamily="2" charset="-78"/>
                        </a:rPr>
                        <a:t>۲۲۰هزار تا ۴۸۰هزار</a:t>
                      </a:r>
                      <a:r>
                        <a:rPr lang="fa-IR" sz="1400" dirty="0">
                          <a:cs typeface="B Compset" panose="00000400000000000000" pitchFamily="2" charset="-78"/>
                        </a:rPr>
                        <a:t> تومان 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فیلتر توری ریز (برای جلوگیری از گرفتن نازل)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233066"/>
                  </a:ext>
                </a:extLst>
              </a:tr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معمولاً ارزان (در حد ده‌ها هزار تومان)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رله اضافه (اگر قبلاً فقط ۱ رله داشتی)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24703"/>
                  </a:ext>
                </a:extLst>
              </a:tr>
              <a:tr h="597087"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حدود </a:t>
                      </a:r>
                      <a:r>
                        <a:rPr lang="fa-IR" sz="1400" b="1" dirty="0">
                          <a:cs typeface="B Compset" panose="00000400000000000000" pitchFamily="2" charset="-78"/>
                        </a:rPr>
                        <a:t>۷۵۰هزار تا ۱.۶۵میلیون</a:t>
                      </a:r>
                      <a:r>
                        <a:rPr lang="fa-IR" sz="1400" dirty="0">
                          <a:cs typeface="B Compset" panose="00000400000000000000" pitchFamily="2" charset="-78"/>
                        </a:rPr>
                        <a:t> تومان 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fa-IR" sz="1400" dirty="0">
                          <a:cs typeface="B Compset" panose="00000400000000000000" pitchFamily="2" charset="-78"/>
                        </a:rPr>
                        <a:t>(اختیاری) شیر برقی 12</a:t>
                      </a:r>
                      <a:r>
                        <a:rPr lang="en-US" sz="1400" dirty="0">
                          <a:cs typeface="B Compset" panose="00000400000000000000" pitchFamily="2" charset="-78"/>
                        </a:rPr>
                        <a:t>V 1/4 </a:t>
                      </a:r>
                      <a:r>
                        <a:rPr lang="fa-IR" sz="1400" dirty="0">
                          <a:cs typeface="B Compset" panose="00000400000000000000" pitchFamily="2" charset="-78"/>
                        </a:rPr>
                        <a:t>اینچ</a:t>
                      </a:r>
                      <a:endParaRPr lang="en-US" sz="1400" dirty="0">
                        <a:cs typeface="B Compset" panose="00000400000000000000" pitchFamily="2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984365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E82B7BD-8326-46C8-932B-EB9B61A7C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335"/>
            <a:ext cx="2677310" cy="2166772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18A31B-5718-40EE-ABF9-A34D42174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310" y="346749"/>
            <a:ext cx="3291373" cy="241322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842066-A0C5-43A9-8974-0561F0B98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6" y="2288107"/>
            <a:ext cx="4077269" cy="307700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620472-9982-415A-9168-42C52AC2CF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8772" y="2477414"/>
            <a:ext cx="2341383" cy="222392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8ED9EC-C4E5-4172-AADE-3FB428DB9E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929" y="4926750"/>
            <a:ext cx="2708957" cy="167012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9A4341-FD5C-462F-B3C7-A36F52631A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6721" y="5157516"/>
            <a:ext cx="1426332" cy="143935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5011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09C25-E5BF-4990-9ED9-D00153123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076" y="1245088"/>
            <a:ext cx="5351013" cy="1446550"/>
          </a:xfrm>
        </p:spPr>
        <p:txBody>
          <a:bodyPr/>
          <a:lstStyle/>
          <a:p>
            <a:pPr algn="r" rtl="1"/>
            <a:r>
              <a:rPr lang="fa-IR" dirty="0"/>
              <a:t>دلیل انتخاب این قطعات </a:t>
            </a:r>
            <a:r>
              <a:rPr lang="en-US" dirty="0"/>
              <a:t>DIY</a:t>
            </a:r>
            <a:r>
              <a:rPr lang="fa-IR" dirty="0"/>
              <a:t> بودن پروژه</a:t>
            </a:r>
            <a:r>
              <a:rPr lang="en-US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A09CE-BC3F-4F4C-A980-87264ECCB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579" y="2909752"/>
            <a:ext cx="4596006" cy="3188586"/>
          </a:xfrm>
        </p:spPr>
        <p:txBody>
          <a:bodyPr/>
          <a:lstStyle/>
          <a:p>
            <a:pPr algn="r" rtl="1"/>
            <a:r>
              <a:rPr lang="fa-IR" dirty="0"/>
              <a:t>مزایای پروژه‌های </a:t>
            </a:r>
            <a:r>
              <a:rPr lang="en-US" dirty="0"/>
              <a:t>DIY:</a:t>
            </a:r>
          </a:p>
          <a:p>
            <a:pPr algn="r" rtl="1"/>
            <a:r>
              <a:rPr lang="fa-IR" dirty="0"/>
              <a:t>صرفه‌جویی مالی: کاهش هزینه‌های استخدام متخصص.</a:t>
            </a:r>
          </a:p>
          <a:p>
            <a:pPr algn="r" rtl="1"/>
            <a:r>
              <a:rPr lang="fa-IR" dirty="0"/>
              <a:t>یادگیری مهارت: کسب تجربه‌های فنی جدید.</a:t>
            </a:r>
          </a:p>
          <a:p>
            <a:pPr algn="r" rtl="1"/>
            <a:r>
              <a:rPr lang="fa-IR" dirty="0"/>
              <a:t>خلاقیت: شخصی‌سازی فضای زندگی.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157D6F-7F01-4364-9B3E-91067897D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52896">
            <a:off x="218114" y="2314134"/>
            <a:ext cx="6418889" cy="14465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A51A1D-DFFB-4988-8E31-2EB20AEC4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058039">
            <a:off x="1544235" y="3683731"/>
            <a:ext cx="5563376" cy="58110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4546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BEA05-8890-4FAF-9311-67E849D6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767975">
            <a:off x="8430935" y="1599003"/>
            <a:ext cx="3480269" cy="976417"/>
          </a:xfr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r" rtl="1"/>
            <a:r>
              <a:rPr lang="fa-IR" dirty="0">
                <a:cs typeface="B Compset" panose="00000400000000000000" pitchFamily="2" charset="-78"/>
              </a:rPr>
              <a:t>مراحل پیاده سازی:</a:t>
            </a:r>
            <a:endParaRPr lang="en-US" dirty="0">
              <a:cs typeface="B Compset" panose="000004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E6CF-AB5C-4D71-BE3B-29E5A549E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4965" y="3368260"/>
            <a:ext cx="5443294" cy="3188586"/>
          </a:xfrm>
        </p:spPr>
        <p:txBody>
          <a:bodyPr>
            <a:normAutofit/>
          </a:bodyPr>
          <a:lstStyle/>
          <a:p>
            <a:pPr algn="r" rtl="1"/>
            <a:r>
              <a:rPr lang="fa-IR" sz="1800" dirty="0">
                <a:cs typeface="B Compset" panose="00000400000000000000" pitchFamily="2" charset="-78"/>
              </a:rPr>
              <a:t>مرحله اول: فقط “حرکت رفت و برگشت” بساز (بدون برس)</a:t>
            </a:r>
          </a:p>
          <a:p>
            <a:pPr algn="r" rtl="1"/>
            <a:r>
              <a:rPr lang="fa-IR" sz="1800" dirty="0">
                <a:cs typeface="B Compset" panose="00000400000000000000" pitchFamily="2" charset="-78"/>
              </a:rPr>
              <a:t>مرحله دوم: سیستم کشش (ساده‌ترین روش: “طناب/کابل”)</a:t>
            </a:r>
          </a:p>
          <a:p>
            <a:pPr algn="r" rtl="1"/>
            <a:r>
              <a:rPr lang="fa-IR" sz="1800" dirty="0">
                <a:cs typeface="B Compset" panose="00000400000000000000" pitchFamily="2" charset="-78"/>
              </a:rPr>
              <a:t>مرحله سوم: برق‌کشی پایه (خیلی مهم و ساده)</a:t>
            </a:r>
          </a:p>
          <a:p>
            <a:pPr algn="r" rtl="1"/>
            <a:r>
              <a:rPr lang="fa-IR" sz="1800" dirty="0">
                <a:cs typeface="B Compset" panose="00000400000000000000" pitchFamily="2" charset="-78"/>
              </a:rPr>
              <a:t>مرحله چهارم: آپلود کد آردوینو (حرکت رفت/برگشت)</a:t>
            </a:r>
          </a:p>
          <a:p>
            <a:pPr algn="r" rtl="1"/>
            <a:r>
              <a:rPr lang="fa-IR" sz="1800" dirty="0">
                <a:cs typeface="B Compset" panose="00000400000000000000" pitchFamily="2" charset="-78"/>
              </a:rPr>
              <a:t>مرحله پنجم: اضافه کردن برس (بعد از اینکه حرکت درست شد)</a:t>
            </a:r>
          </a:p>
          <a:p>
            <a:pPr algn="r" rtl="1"/>
            <a:r>
              <a:rPr lang="fa-IR" sz="1800" dirty="0">
                <a:cs typeface="B Compset" panose="00000400000000000000" pitchFamily="2" charset="-78"/>
              </a:rPr>
              <a:t>مرحله ششم: تست روی زمین، بعد روی پنل</a:t>
            </a:r>
          </a:p>
          <a:p>
            <a:pPr algn="r" rtl="1"/>
            <a:r>
              <a:rPr lang="fa-IR" sz="1800" dirty="0">
                <a:cs typeface="B Compset" panose="00000400000000000000" pitchFamily="2" charset="-78"/>
              </a:rPr>
              <a:t>مرحله ۷: </a:t>
            </a:r>
            <a:r>
              <a:rPr lang="fa-IR" sz="1800" dirty="0"/>
              <a:t>اضافه </a:t>
            </a:r>
            <a:r>
              <a:rPr lang="fa-IR" sz="1800" dirty="0">
                <a:cs typeface="B Compset" panose="00000400000000000000" pitchFamily="2" charset="-78"/>
              </a:rPr>
              <a:t>کردن</a:t>
            </a:r>
            <a:r>
              <a:rPr lang="fa-IR" sz="1800" dirty="0"/>
              <a:t> سیستم آب‌پاش</a:t>
            </a:r>
            <a:endParaRPr lang="en-US" sz="1800" dirty="0">
              <a:cs typeface="B Compset" panose="00000400000000000000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0090D0-C38F-48EE-8A22-B31732A84216}"/>
              </a:ext>
            </a:extLst>
          </p:cNvPr>
          <p:cNvSpPr/>
          <p:nvPr/>
        </p:nvSpPr>
        <p:spPr>
          <a:xfrm>
            <a:off x="4030647" y="1247755"/>
            <a:ext cx="1382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dirty="0"/>
              <a:t>خیلی مهم ترتیب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BE42B5-F67D-4BD5-BF25-61D4F3B1F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585" y="1432421"/>
            <a:ext cx="2791215" cy="1495634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313603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6CA4-28D9-455F-94E3-4D078E64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590923">
            <a:off x="5612233" y="1299586"/>
            <a:ext cx="2347755" cy="833804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r"/>
            <a:r>
              <a:rPr lang="fa-IR" dirty="0"/>
              <a:t>مرحله اول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DDF00-10F8-4FAE-B419-12EE052B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185" y="2590970"/>
            <a:ext cx="8267296" cy="3188586"/>
          </a:xfrm>
        </p:spPr>
        <p:txBody>
          <a:bodyPr/>
          <a:lstStyle/>
          <a:p>
            <a:pPr algn="r" rtl="1"/>
            <a:r>
              <a:rPr lang="fa-IR" dirty="0"/>
              <a:t>ریل‌ها رو نصب کن</a:t>
            </a:r>
            <a:endParaRPr lang="en-US" dirty="0"/>
          </a:p>
          <a:p>
            <a:pPr algn="r" rtl="1"/>
            <a:endParaRPr lang="en-US" dirty="0"/>
          </a:p>
          <a:p>
            <a:pPr marL="0" indent="0" algn="r" rtl="1">
              <a:buNone/>
            </a:pPr>
            <a:endParaRPr lang="en-US" dirty="0"/>
          </a:p>
          <a:p>
            <a:pPr algn="r" rtl="1"/>
            <a:r>
              <a:rPr lang="fa-IR" dirty="0"/>
              <a:t>واگن رو بساز</a:t>
            </a:r>
            <a:endParaRPr lang="en-US" dirty="0"/>
          </a:p>
          <a:p>
            <a:pPr algn="r" rtl="1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FF8B02-1A6F-4ADA-9388-7CD77DBAF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955" y="2909548"/>
            <a:ext cx="4025030" cy="12384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135865-FEA2-46AE-931B-499EC4AD3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955" y="4516883"/>
            <a:ext cx="4658375" cy="828791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76958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6CA4-28D9-455F-94E3-4D078E64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590923">
            <a:off x="5612233" y="1299586"/>
            <a:ext cx="2347755" cy="833804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r"/>
            <a:r>
              <a:rPr lang="fa-IR" dirty="0"/>
              <a:t>مرحله دوم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DDF00-10F8-4FAE-B419-12EE052B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185" y="2590970"/>
            <a:ext cx="8267296" cy="3188586"/>
          </a:xfrm>
        </p:spPr>
        <p:txBody>
          <a:bodyPr/>
          <a:lstStyle/>
          <a:p>
            <a:pPr algn="r" rtl="1"/>
            <a:r>
              <a:rPr lang="fa-IR" dirty="0"/>
              <a:t>نسخه خیلی ساده</a:t>
            </a:r>
            <a:endParaRPr lang="en-US" dirty="0"/>
          </a:p>
          <a:p>
            <a:pPr marL="0" indent="0" algn="r" rtl="1">
              <a:buNone/>
            </a:pPr>
            <a:endParaRPr lang="en-US" dirty="0"/>
          </a:p>
          <a:p>
            <a:pPr marL="0" indent="0" algn="r" rtl="1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C27DB2-9328-40C1-800E-6DD49452E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99" y="2812782"/>
            <a:ext cx="5039428" cy="217200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475787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6CA4-28D9-455F-94E3-4D078E64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590923">
            <a:off x="5612233" y="1299586"/>
            <a:ext cx="2347755" cy="833804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r"/>
            <a:r>
              <a:rPr lang="fa-IR" dirty="0"/>
              <a:t>مرحله سوم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DDF00-10F8-4FAE-B419-12EE052B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185" y="2590970"/>
            <a:ext cx="8267296" cy="3188586"/>
          </a:xfrm>
        </p:spPr>
        <p:txBody>
          <a:bodyPr/>
          <a:lstStyle/>
          <a:p>
            <a:pPr algn="r" rtl="1"/>
            <a:endParaRPr lang="en-US" dirty="0"/>
          </a:p>
          <a:p>
            <a:pPr marL="0" indent="0" algn="r" rtl="1">
              <a:buNone/>
            </a:pPr>
            <a:endParaRPr lang="en-US" dirty="0"/>
          </a:p>
          <a:p>
            <a:pPr marL="0" indent="0" algn="r" rtl="1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FDE7E-21EB-49D8-9AD7-437736BB4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501" y="2867802"/>
            <a:ext cx="2248214" cy="139084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F34457-AD8D-4553-BF02-9B90B8EA5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389" y="4047416"/>
            <a:ext cx="3077004" cy="194337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47169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6CA4-28D9-455F-94E3-4D078E64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590923">
            <a:off x="5612233" y="1299586"/>
            <a:ext cx="2347755" cy="833804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algn="r"/>
            <a:r>
              <a:rPr lang="fa-IR" sz="3600" dirty="0"/>
              <a:t>مرحله چهارم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DDF00-10F8-4FAE-B419-12EE052B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185" y="2590970"/>
            <a:ext cx="8267296" cy="3188586"/>
          </a:xfrm>
        </p:spPr>
        <p:txBody>
          <a:bodyPr/>
          <a:lstStyle/>
          <a:p>
            <a:pPr algn="r" rtl="1"/>
            <a:r>
              <a:rPr lang="fa-IR" dirty="0"/>
              <a:t>آردوینو</a:t>
            </a:r>
            <a:endParaRPr lang="en-US" dirty="0"/>
          </a:p>
          <a:p>
            <a:pPr marL="0" indent="0" algn="r" rtl="1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33B00-9949-427D-958F-40CC4CEBB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895" y="3035436"/>
            <a:ext cx="3096057" cy="971686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561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6CA4-28D9-455F-94E3-4D078E64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590923">
            <a:off x="5612233" y="1299586"/>
            <a:ext cx="2347755" cy="833804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r"/>
            <a:r>
              <a:rPr lang="fa-IR" dirty="0"/>
              <a:t>مرحله پنجم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DDF00-10F8-4FAE-B419-12EE052B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185" y="2590970"/>
            <a:ext cx="8267296" cy="3188586"/>
          </a:xfrm>
        </p:spPr>
        <p:txBody>
          <a:bodyPr/>
          <a:lstStyle/>
          <a:p>
            <a:pPr algn="r" rtl="1"/>
            <a:r>
              <a:rPr lang="fa-IR" dirty="0"/>
              <a:t>برس</a:t>
            </a:r>
            <a:endParaRPr lang="en-US" dirty="0"/>
          </a:p>
          <a:p>
            <a:pPr marL="0" indent="0" algn="r" rtl="1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BF20F-AD59-4D7D-9F0B-82B172D26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694" y="3124088"/>
            <a:ext cx="4848902" cy="96215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50581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6CA4-28D9-455F-94E3-4D078E64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590923">
            <a:off x="5637400" y="1291197"/>
            <a:ext cx="2347755" cy="833804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r"/>
            <a:r>
              <a:rPr lang="fa-IR" dirty="0"/>
              <a:t>مرحله ششم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DDF00-10F8-4FAE-B419-12EE052B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185" y="2590970"/>
            <a:ext cx="8267296" cy="3188586"/>
          </a:xfrm>
        </p:spPr>
        <p:txBody>
          <a:bodyPr/>
          <a:lstStyle/>
          <a:p>
            <a:pPr algn="r" rtl="1"/>
            <a:r>
              <a:rPr lang="fa-IR" dirty="0"/>
              <a:t>تست روی زمین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F9498-4DFE-4300-AAF8-D4D364AEB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708" y="3031810"/>
            <a:ext cx="3667637" cy="96215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A3FBDD0-020A-49F6-8FCA-A3789DFBD87D}"/>
              </a:ext>
            </a:extLst>
          </p:cNvPr>
          <p:cNvSpPr/>
          <p:nvPr/>
        </p:nvSpPr>
        <p:spPr>
          <a:xfrm>
            <a:off x="0" y="5859169"/>
            <a:ext cx="3285688" cy="923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r>
              <a:rPr lang="en-US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https://chatgpt.com/share/699fe842-0bb4-800c-aa9e-04cd2e3f6b1e</a:t>
            </a:r>
          </a:p>
        </p:txBody>
      </p:sp>
    </p:spTree>
    <p:extLst>
      <p:ext uri="{BB962C8B-B14F-4D97-AF65-F5344CB8AC3E}">
        <p14:creationId xmlns:p14="http://schemas.microsoft.com/office/powerpoint/2010/main" val="2887417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6CA4-28D9-455F-94E3-4D078E64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590923">
            <a:off x="5637400" y="1291197"/>
            <a:ext cx="2347755" cy="833804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r"/>
            <a:r>
              <a:rPr lang="fa-IR" dirty="0"/>
              <a:t>مرحله ششم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DDF00-10F8-4FAE-B419-12EE052B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185" y="2590970"/>
            <a:ext cx="8267296" cy="3188586"/>
          </a:xfrm>
        </p:spPr>
        <p:txBody>
          <a:bodyPr/>
          <a:lstStyle/>
          <a:p>
            <a:pPr algn="r" rtl="1"/>
            <a:r>
              <a:rPr lang="fa-IR" dirty="0"/>
              <a:t>تست روی زمین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F9498-4DFE-4300-AAF8-D4D364AEB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708" y="3031810"/>
            <a:ext cx="3667637" cy="96215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18179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6CA4-28D9-455F-94E3-4D078E64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20590923">
            <a:off x="5637400" y="1291197"/>
            <a:ext cx="2347755" cy="833804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r"/>
            <a:r>
              <a:rPr lang="fa-IR" dirty="0"/>
              <a:t>مرحله هفتم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DDF00-10F8-4FAE-B419-12EE052B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4185" y="2590970"/>
            <a:ext cx="8267296" cy="3188586"/>
          </a:xfrm>
        </p:spPr>
        <p:txBody>
          <a:bodyPr/>
          <a:lstStyle/>
          <a:p>
            <a:pPr algn="r" rtl="1"/>
            <a:r>
              <a:rPr lang="fa-IR" dirty="0"/>
              <a:t>سیستم آب‌پاش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43D1F3-3EFE-4B5D-91C3-291C608F8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413" y="2986531"/>
            <a:ext cx="3258005" cy="17909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9987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6CA4-28D9-455F-94E3-4D078E64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148" y="1307975"/>
            <a:ext cx="2347755" cy="833804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fa-IR" dirty="0"/>
              <a:t>دانستنی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DDF00-10F8-4FAE-B419-12EE052B1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075" y="2590970"/>
            <a:ext cx="5510406" cy="3188586"/>
          </a:xfrm>
        </p:spPr>
        <p:txBody>
          <a:bodyPr>
            <a:normAutofit fontScale="85000" lnSpcReduction="20000"/>
          </a:bodyPr>
          <a:lstStyle/>
          <a:p>
            <a:pPr algn="r" rtl="1"/>
            <a:r>
              <a:rPr lang="en-US" dirty="0"/>
              <a:t>R&amp;D</a:t>
            </a:r>
            <a:r>
              <a:rPr lang="fa-IR" dirty="0"/>
              <a:t> چیست:</a:t>
            </a:r>
          </a:p>
          <a:p>
            <a:pPr algn="r" rtl="1"/>
            <a:endParaRPr lang="fa-IR" dirty="0"/>
          </a:p>
          <a:p>
            <a:pPr algn="r" rtl="1"/>
            <a:r>
              <a:rPr lang="fa-IR" dirty="0"/>
              <a:t>معنی تحقیق و توسعه</a:t>
            </a:r>
          </a:p>
          <a:p>
            <a:pPr algn="r" rtl="1"/>
            <a:r>
              <a:rPr lang="fa-IR" dirty="0"/>
              <a:t>به فعالیت‌هایی گفته می‌شود که برای:</a:t>
            </a:r>
            <a:br>
              <a:rPr lang="fa-IR" dirty="0"/>
            </a:br>
            <a:r>
              <a:rPr lang="fa-IR" dirty="0"/>
              <a:t>کشف دانش جدید</a:t>
            </a:r>
          </a:p>
          <a:p>
            <a:pPr algn="r" rtl="1"/>
            <a:r>
              <a:rPr lang="fa-IR" dirty="0"/>
              <a:t>بهبود محصولات یا خدمات</a:t>
            </a:r>
          </a:p>
          <a:p>
            <a:pPr algn="r" rtl="1"/>
            <a:r>
              <a:rPr lang="fa-IR" dirty="0"/>
              <a:t>ساخت فناوری‌های نوآورانه</a:t>
            </a:r>
          </a:p>
          <a:p>
            <a:pPr algn="r" rtl="1"/>
            <a:r>
              <a:rPr lang="fa-IR" dirty="0"/>
              <a:t>حل مسائل فنی و علمی</a:t>
            </a:r>
          </a:p>
          <a:p>
            <a:pPr algn="r" rtl="1"/>
            <a:r>
              <a:rPr lang="fa-IR" dirty="0"/>
              <a:t>انجام می‌شوند.</a:t>
            </a:r>
          </a:p>
          <a:p>
            <a:pPr marL="0" indent="0" algn="r" rtl="1">
              <a:buNone/>
            </a:pPr>
            <a:endParaRPr lang="fa-IR" dirty="0"/>
          </a:p>
          <a:p>
            <a:pPr algn="r" rtl="1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52162-AD1F-4253-B666-B7FDAD5EC9C6}"/>
              </a:ext>
            </a:extLst>
          </p:cNvPr>
          <p:cNvSpPr/>
          <p:nvPr/>
        </p:nvSpPr>
        <p:spPr>
          <a:xfrm>
            <a:off x="6892039" y="3244334"/>
            <a:ext cx="2760564" cy="369332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dirty="0"/>
              <a:t>Research and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A4285D-DE5F-4B08-9D9D-69CB89712108}"/>
              </a:ext>
            </a:extLst>
          </p:cNvPr>
          <p:cNvSpPr/>
          <p:nvPr/>
        </p:nvSpPr>
        <p:spPr>
          <a:xfrm>
            <a:off x="3384105" y="1140102"/>
            <a:ext cx="26180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R&amp;D </a:t>
            </a:r>
            <a:r>
              <a:rPr lang="fa-IR" sz="32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در شرکت‌ها</a:t>
            </a:r>
            <a:endParaRPr lang="en-US" sz="32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6DA8FC-FDAA-442C-BE88-6BD787F1A509}"/>
              </a:ext>
            </a:extLst>
          </p:cNvPr>
          <p:cNvSpPr/>
          <p:nvPr/>
        </p:nvSpPr>
        <p:spPr>
          <a:xfrm>
            <a:off x="1249958" y="1852306"/>
            <a:ext cx="4530055" cy="147732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r" rtl="1"/>
            <a:r>
              <a:rPr lang="fa-IR" dirty="0"/>
              <a:t>بسیاری از شرکت‌های بزرگ دنیا بخش </a:t>
            </a:r>
            <a:r>
              <a:rPr lang="en-US" dirty="0"/>
              <a:t>R&amp;D </a:t>
            </a:r>
            <a:r>
              <a:rPr lang="fa-IR" dirty="0"/>
              <a:t>دارند، مثل: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dirty="0"/>
              <a:t>Apple </a:t>
            </a:r>
            <a:r>
              <a:rPr lang="fa-IR" dirty="0"/>
              <a:t>(برای توسعه آیفون‌های جدید)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dirty="0"/>
              <a:t>Tesla </a:t>
            </a:r>
            <a:r>
              <a:rPr lang="fa-IR" dirty="0"/>
              <a:t>(برای بهبود باتری و خودروهای برقی)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dirty="0"/>
              <a:t>Pfizer</a:t>
            </a:r>
            <a:r>
              <a:rPr lang="fa-IR" dirty="0"/>
              <a:t> (</a:t>
            </a:r>
            <a:r>
              <a:rPr lang="en-US" dirty="0"/>
              <a:t> </a:t>
            </a:r>
            <a:r>
              <a:rPr lang="fa-IR" dirty="0"/>
              <a:t>برای تولید دارو و واکسن)</a:t>
            </a:r>
          </a:p>
          <a:p>
            <a:pPr algn="r" rtl="1"/>
            <a:r>
              <a:rPr lang="fa-IR" dirty="0"/>
              <a:t>این بخش باعث می‌شود شرکت‌ها از رقبا جلوتر باشند </a:t>
            </a:r>
            <a:r>
              <a:rPr lang="en-US" dirty="0"/>
              <a:t>🚀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BCA22E-2FF2-41AA-94A2-1F349D55EA4B}"/>
              </a:ext>
            </a:extLst>
          </p:cNvPr>
          <p:cNvSpPr/>
          <p:nvPr/>
        </p:nvSpPr>
        <p:spPr>
          <a:xfrm>
            <a:off x="4197293" y="3739285"/>
            <a:ext cx="1643399" cy="3693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/>
          <a:p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🎯 </a:t>
            </a:r>
            <a:r>
              <a:rPr lang="fa-I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چرا مهم است؟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6E96CC-ED75-42A8-97DE-67EC88FA5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384" y="4292911"/>
            <a:ext cx="1643399" cy="1284629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97462430"/>
      </p:ext>
    </p:extLst>
  </p:cSld>
  <p:clrMapOvr>
    <a:masterClrMapping/>
  </p:clrMapOvr>
</p:sld>
</file>

<file path=ppt/theme/theme1.xml><?xml version="1.0" encoding="utf-8"?>
<a:theme xmlns:a="http://schemas.openxmlformats.org/drawingml/2006/main" name="MadridVTI">
  <a:themeElements>
    <a:clrScheme name="Madrid R3">
      <a:dk1>
        <a:srgbClr val="000000"/>
      </a:dk1>
      <a:lt1>
        <a:srgbClr val="FFFFFF"/>
      </a:lt1>
      <a:dk2>
        <a:srgbClr val="3A3C45"/>
      </a:dk2>
      <a:lt2>
        <a:srgbClr val="E9EFF1"/>
      </a:lt2>
      <a:accent1>
        <a:srgbClr val="E24400"/>
      </a:accent1>
      <a:accent2>
        <a:srgbClr val="F38E00"/>
      </a:accent2>
      <a:accent3>
        <a:srgbClr val="89B336"/>
      </a:accent3>
      <a:accent4>
        <a:srgbClr val="30B9B9"/>
      </a:accent4>
      <a:accent5>
        <a:srgbClr val="748CF4"/>
      </a:accent5>
      <a:accent6>
        <a:srgbClr val="A673F4"/>
      </a:accent6>
      <a:hlink>
        <a:srgbClr val="008EE6"/>
      </a:hlink>
      <a:folHlink>
        <a:srgbClr val="C1A187"/>
      </a:folHlink>
    </a:clrScheme>
    <a:fontScheme name="Madrid">
      <a:majorFont>
        <a:latin typeface="Seaford Display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ridVTI" id="{5F675924-ADDD-6B4C-A2D4-69150D1F0C16}" vid="{BEA84270-19BD-7342-8ABF-EFF1668AF1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539</Words>
  <Application>Microsoft Office PowerPoint</Application>
  <PresentationFormat>Widescreen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 Compset</vt:lpstr>
      <vt:lpstr>Seaford Display</vt:lpstr>
      <vt:lpstr>System Font Regular</vt:lpstr>
      <vt:lpstr>Tenorite</vt:lpstr>
      <vt:lpstr>MadridVTI</vt:lpstr>
      <vt:lpstr>دستگاه اتومات تمیزکن پنل</vt:lpstr>
      <vt:lpstr>برآورد هزینه قطعات اصلی</vt:lpstr>
      <vt:lpstr>بخش مکانیکی</vt:lpstr>
      <vt:lpstr>سیستم آب‌پاش (برای ۱ پنل)</vt:lpstr>
      <vt:lpstr>دلیل انتخاب این قطعات DIY بودن پروژه:</vt:lpstr>
      <vt:lpstr>مراحل پیاده سازی:</vt:lpstr>
      <vt:lpstr>مرحله اول </vt:lpstr>
      <vt:lpstr>مرحله دوم </vt:lpstr>
      <vt:lpstr>مرحله سوم </vt:lpstr>
      <vt:lpstr>مرحله چهارم </vt:lpstr>
      <vt:lpstr>مرحله پنجم </vt:lpstr>
      <vt:lpstr>مرحله ششم </vt:lpstr>
      <vt:lpstr>مرحله ششم </vt:lpstr>
      <vt:lpstr>مرحله هفتم </vt:lpstr>
      <vt:lpstr>دانستنی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دستگاه اتومات تمیزکن پنل</dc:title>
  <dc:creator>Iman Norouzi</dc:creator>
  <cp:lastModifiedBy>Iman Norouzi</cp:lastModifiedBy>
  <cp:revision>1</cp:revision>
  <dcterms:created xsi:type="dcterms:W3CDTF">2026-02-26T04:51:17Z</dcterms:created>
  <dcterms:modified xsi:type="dcterms:W3CDTF">2026-02-26T06:28:57Z</dcterms:modified>
</cp:coreProperties>
</file>